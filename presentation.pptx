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63" r:id="rId4"/>
    <p:sldId id="257" r:id="rId5"/>
    <p:sldId id="260" r:id="rId6"/>
    <p:sldId id="266" r:id="rId7"/>
    <p:sldId id="259" r:id="rId8"/>
    <p:sldId id="265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file:///C:\Users\ruthi\Desktop\CIRRHOSIS_LIVER_DISEASE_UPDATED.docx" TargetMode="Externa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94CDA-F915-788F-37FA-5BD95FEA42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4944" y="356616"/>
            <a:ext cx="10835640" cy="3566160"/>
          </a:xfrm>
        </p:spPr>
        <p:txBody>
          <a:bodyPr/>
          <a:lstStyle/>
          <a:p>
            <a:r>
              <a:rPr lang="en-IN" dirty="0"/>
              <a:t>CLASSIFICATION OF: CIRRHOSIS LIVER DISEASE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448272-33AE-75B2-D882-CFE6650D41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HeMAKSHI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JAIN 2023UCP1669</a:t>
            </a:r>
          </a:p>
          <a:p>
            <a:pPr algn="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PULKIT AGGARWAL 2023UCP1711</a:t>
            </a:r>
          </a:p>
        </p:txBody>
      </p:sp>
    </p:spTree>
    <p:extLst>
      <p:ext uri="{BB962C8B-B14F-4D97-AF65-F5344CB8AC3E}">
        <p14:creationId xmlns:p14="http://schemas.microsoft.com/office/powerpoint/2010/main" val="3922173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CDBB9-687B-5F4C-CCED-E186FA131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0A298-4307-8983-A297-BF6D1A341A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Use various AI and ML techniques to classify the </a:t>
            </a:r>
            <a:r>
              <a:rPr lang="en-IN" dirty="0" err="1"/>
              <a:t>the</a:t>
            </a:r>
            <a:r>
              <a:rPr lang="en-IN" dirty="0"/>
              <a:t> images of cirrhosis liver into class 1,2 and 3 that is </a:t>
            </a:r>
            <a:r>
              <a:rPr lang="en-IN" dirty="0" err="1"/>
              <a:t>mild,moderate</a:t>
            </a:r>
            <a:r>
              <a:rPr lang="en-IN" dirty="0"/>
              <a:t> and severe.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8688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4F62F-1EB2-0E9B-D4FD-7AE53F57A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F011E-0268-CF9F-EEF8-E6CEF56E5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7D653-D91F-9C52-7D12-AC28CD2A2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Original Dataset: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 CirrMRI600+ dataset </a:t>
            </a:r>
            <a:r>
              <a:rPr lang="en-US" dirty="0"/>
              <a:t>comprises 628 abdominal MRI scans (310 T1-weighted (T1W) and 318 T2-weighted (T2W)) volumetric scans along with corresponding segmentation masks annotated by physicians.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CirrMRI600+ is a single-</a:t>
            </a:r>
            <a:r>
              <a:rPr lang="en-IN" dirty="0" err="1"/>
              <a:t>center</a:t>
            </a:r>
            <a:r>
              <a:rPr lang="en-IN" dirty="0"/>
              <a:t>, multivendor, and multisequence dataset.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IN" dirty="0"/>
          </a:p>
          <a:p>
            <a:pPr marL="201168" lvl="1" indent="0">
              <a:buNone/>
            </a:pPr>
            <a:r>
              <a:rPr lang="en-IN" dirty="0"/>
              <a:t>Dataset Used In The Study: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 Used only T2 scan for the study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Arranged all the images in folders according to the labels given in the metadata.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Did not include the information of patient whose label was missing.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IN" dirty="0"/>
          </a:p>
          <a:p>
            <a:pPr marL="201168" lvl="1" indent="0">
              <a:buNone/>
            </a:pPr>
            <a:r>
              <a:rPr lang="en-IN" dirty="0"/>
              <a:t>Link of dataset 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https://arxiv.org/abs/2502.18225</a:t>
            </a:r>
          </a:p>
          <a:p>
            <a:pPr marL="201168" lvl="1" indent="0">
              <a:buNone/>
            </a:pPr>
            <a:endParaRPr lang="en-IN" dirty="0"/>
          </a:p>
          <a:p>
            <a:pPr marL="201168" lvl="1" indent="0">
              <a:buNone/>
            </a:pPr>
            <a:endParaRPr lang="en-IN" dirty="0"/>
          </a:p>
          <a:p>
            <a:pPr lvl="1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4029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BF04D-0526-DC76-3400-58CE449A0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247250"/>
            <a:ext cx="10058400" cy="1450757"/>
          </a:xfrm>
        </p:spPr>
        <p:txBody>
          <a:bodyPr/>
          <a:lstStyle/>
          <a:p>
            <a:r>
              <a:rPr lang="en-IN" dirty="0"/>
              <a:t>DATASET:PATIENT WISE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4D3E64-6306-5F60-1CDA-0A1D358945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8416546"/>
              </p:ext>
            </p:extLst>
          </p:nvPr>
        </p:nvGraphicFramePr>
        <p:xfrm>
          <a:off x="8607552" y="96328"/>
          <a:ext cx="3515359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5780">
                  <a:extLst>
                    <a:ext uri="{9D8B030D-6E8A-4147-A177-3AD203B41FA5}">
                      <a16:colId xmlns:a16="http://schemas.microsoft.com/office/drawing/2014/main" val="2553788456"/>
                    </a:ext>
                  </a:extLst>
                </a:gridCol>
                <a:gridCol w="1809579">
                  <a:extLst>
                    <a:ext uri="{9D8B030D-6E8A-4147-A177-3AD203B41FA5}">
                      <a16:colId xmlns:a16="http://schemas.microsoft.com/office/drawing/2014/main" val="5956837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NUMBER OF PATIENTS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032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177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312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88626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710E3AE-7D7D-7C4A-2667-25497D1048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422995"/>
              </p:ext>
            </p:extLst>
          </p:nvPr>
        </p:nvGraphicFramePr>
        <p:xfrm>
          <a:off x="973836" y="1999850"/>
          <a:ext cx="9159240" cy="4066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3080">
                  <a:extLst>
                    <a:ext uri="{9D8B030D-6E8A-4147-A177-3AD203B41FA5}">
                      <a16:colId xmlns:a16="http://schemas.microsoft.com/office/drawing/2014/main" val="1418993268"/>
                    </a:ext>
                  </a:extLst>
                </a:gridCol>
                <a:gridCol w="3053080">
                  <a:extLst>
                    <a:ext uri="{9D8B030D-6E8A-4147-A177-3AD203B41FA5}">
                      <a16:colId xmlns:a16="http://schemas.microsoft.com/office/drawing/2014/main" val="466476776"/>
                    </a:ext>
                  </a:extLst>
                </a:gridCol>
                <a:gridCol w="3053080">
                  <a:extLst>
                    <a:ext uri="{9D8B030D-6E8A-4147-A177-3AD203B41FA5}">
                      <a16:colId xmlns:a16="http://schemas.microsoft.com/office/drawing/2014/main" val="552273610"/>
                    </a:ext>
                  </a:extLst>
                </a:gridCol>
              </a:tblGrid>
              <a:tr h="387273">
                <a:tc>
                  <a:txBody>
                    <a:bodyPr/>
                    <a:lstStyle/>
                    <a:p>
                      <a:r>
                        <a:rPr lang="en-IN" dirty="0"/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PATIENT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19671"/>
                  </a:ext>
                </a:extLst>
              </a:tr>
              <a:tr h="408791">
                <a:tc rowSpan="3">
                  <a:txBody>
                    <a:bodyPr/>
                    <a:lstStyle/>
                    <a:p>
                      <a:r>
                        <a:rPr lang="en-IN" dirty="0"/>
                        <a:t>TRAINING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483357"/>
                  </a:ext>
                </a:extLst>
              </a:tr>
              <a:tr h="408791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5928864"/>
                  </a:ext>
                </a:extLst>
              </a:tr>
              <a:tr h="408791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30308"/>
                  </a:ext>
                </a:extLst>
              </a:tr>
              <a:tr h="408791">
                <a:tc rowSpan="3">
                  <a:txBody>
                    <a:bodyPr/>
                    <a:lstStyle/>
                    <a:p>
                      <a:r>
                        <a:rPr lang="en-IN" dirty="0"/>
                        <a:t>VALIDATION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12161"/>
                  </a:ext>
                </a:extLst>
              </a:tr>
              <a:tr h="408791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972625"/>
                  </a:ext>
                </a:extLst>
              </a:tr>
              <a:tr h="408791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955836"/>
                  </a:ext>
                </a:extLst>
              </a:tr>
              <a:tr h="408791">
                <a:tc rowSpan="3">
                  <a:txBody>
                    <a:bodyPr/>
                    <a:lstStyle/>
                    <a:p>
                      <a:r>
                        <a:rPr lang="en-IN" dirty="0"/>
                        <a:t>TESTING 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832782"/>
                  </a:ext>
                </a:extLst>
              </a:tr>
              <a:tr h="408791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624001"/>
                  </a:ext>
                </a:extLst>
              </a:tr>
              <a:tr h="408791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206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281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B622D-A122-0201-9A98-0A0B03B2C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Have We Done Till Now?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844C07-561A-8A76-1D8A-CB687AA593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USED various state of art models such as googlenet,vggnet,resnet,etc ;used attention mechanism and transformer to improve accuracy</a:t>
            </a:r>
          </a:p>
        </p:txBody>
      </p:sp>
    </p:spTree>
    <p:extLst>
      <p:ext uri="{BB962C8B-B14F-4D97-AF65-F5344CB8AC3E}">
        <p14:creationId xmlns:p14="http://schemas.microsoft.com/office/powerpoint/2010/main" val="803119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24C5C-A6CB-192A-E5BA-091C8C06E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36282"/>
            <a:ext cx="10058400" cy="736282"/>
          </a:xfrm>
        </p:spPr>
        <p:txBody>
          <a:bodyPr/>
          <a:lstStyle/>
          <a:p>
            <a:pPr algn="ctr"/>
            <a:r>
              <a:rPr lang="en-IN" dirty="0"/>
              <a:t>What New We Have Done?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36CBE-B39F-C1DD-4215-656D04EBE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4114482"/>
          </a:xfrm>
        </p:spPr>
        <p:txBody>
          <a:bodyPr/>
          <a:lstStyle/>
          <a:p>
            <a:r>
              <a:rPr lang="en-IN" dirty="0"/>
              <a:t>Firstly, we applied self-attention to different pretrained models and analysed the results. From our observation we saw that the results were degrading due to increased number of parameters. </a:t>
            </a:r>
          </a:p>
          <a:p>
            <a:r>
              <a:rPr lang="en-IN" dirty="0"/>
              <a:t>So we thought of replacing the self-attention block with a block that could mimic self-attention with reduced number of parameters.</a:t>
            </a:r>
          </a:p>
          <a:p>
            <a:r>
              <a:rPr lang="en-IN" dirty="0"/>
              <a:t>So we have tried to apply </a:t>
            </a:r>
            <a:r>
              <a:rPr lang="en-IN" b="1" dirty="0" err="1"/>
              <a:t>Msca</a:t>
            </a:r>
            <a:r>
              <a:rPr lang="en-IN" dirty="0"/>
              <a:t>  block referred in the </a:t>
            </a:r>
            <a:r>
              <a:rPr lang="en-IN" dirty="0" err="1"/>
              <a:t>segnext</a:t>
            </a:r>
            <a:r>
              <a:rPr lang="en-IN" dirty="0"/>
              <a:t> paper.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222F7FB-FD4C-21DE-7158-7100C5BE6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035040" y="1846053"/>
            <a:ext cx="5824728" cy="3260628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5A955F-8F33-4538-346C-BE5C80BCDD94}"/>
              </a:ext>
            </a:extLst>
          </p:cNvPr>
          <p:cNvSpPr txBox="1"/>
          <p:nvPr/>
        </p:nvSpPr>
        <p:spPr>
          <a:xfrm>
            <a:off x="7863840" y="5110838"/>
            <a:ext cx="4626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Multi-Scale Convolution Attention</a:t>
            </a:r>
          </a:p>
        </p:txBody>
      </p:sp>
    </p:spTree>
    <p:extLst>
      <p:ext uri="{BB962C8B-B14F-4D97-AF65-F5344CB8AC3E}">
        <p14:creationId xmlns:p14="http://schemas.microsoft.com/office/powerpoint/2010/main" val="2449253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6044-E78C-C3A6-76D0-A94B4B0B1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-259708"/>
            <a:ext cx="10058400" cy="1450757"/>
          </a:xfrm>
        </p:spPr>
        <p:txBody>
          <a:bodyPr/>
          <a:lstStyle/>
          <a:p>
            <a:r>
              <a:rPr lang="en-IN" dirty="0"/>
              <a:t>RESULTS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3B61A-289F-9A9B-7168-5C8189428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384" y="1220668"/>
            <a:ext cx="10058400" cy="339682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The highest accuracy 64.76% was achieved using Densenet121 and spatial attention.</a:t>
            </a:r>
          </a:p>
        </p:txBody>
      </p:sp>
      <p:pic>
        <p:nvPicPr>
          <p:cNvPr id="4" name="image2.png">
            <a:extLst>
              <a:ext uri="{FF2B5EF4-FFF2-40B4-BE49-F238E27FC236}">
                <a16:creationId xmlns:a16="http://schemas.microsoft.com/office/drawing/2014/main" id="{D3C218AA-6A05-9E08-8311-4822FBC9F2A9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74904" y="1751134"/>
            <a:ext cx="4553712" cy="2405845"/>
          </a:xfrm>
          <a:prstGeom prst="rect">
            <a:avLst/>
          </a:prstGeom>
          <a:ln/>
        </p:spPr>
      </p:pic>
      <p:pic>
        <p:nvPicPr>
          <p:cNvPr id="5" name="image14.png">
            <a:extLst>
              <a:ext uri="{FF2B5EF4-FFF2-40B4-BE49-F238E27FC236}">
                <a16:creationId xmlns:a16="http://schemas.microsoft.com/office/drawing/2014/main" id="{917DEC16-6D92-652D-C9C9-D31230E185E7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74904" y="4156979"/>
            <a:ext cx="4553712" cy="2331720"/>
          </a:xfrm>
          <a:prstGeom prst="rect">
            <a:avLst/>
          </a:prstGeom>
          <a:ln/>
        </p:spPr>
      </p:pic>
      <p:pic>
        <p:nvPicPr>
          <p:cNvPr id="6" name="image15.png">
            <a:extLst>
              <a:ext uri="{FF2B5EF4-FFF2-40B4-BE49-F238E27FC236}">
                <a16:creationId xmlns:a16="http://schemas.microsoft.com/office/drawing/2014/main" id="{FAF28B2A-5165-5920-6048-282EC25D0805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5745480" y="2205030"/>
            <a:ext cx="5129784" cy="3340862"/>
          </a:xfrm>
          <a:prstGeom prst="rect">
            <a:avLst/>
          </a:prstGeom>
          <a:ln/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F7303CB9-FD7F-719A-21EF-DFB959E9E334}"/>
              </a:ext>
            </a:extLst>
          </p:cNvPr>
          <p:cNvSpPr/>
          <p:nvPr/>
        </p:nvSpPr>
        <p:spPr>
          <a:xfrm>
            <a:off x="9666732" y="155038"/>
            <a:ext cx="2124456" cy="700547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hlinkClick r:id="rId5" action="ppaction://hlinkfile"/>
              </a:rPr>
              <a:t>REPORT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4969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93517-65AA-C1BC-47D0-868B7628E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WITH MOBILENETV2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95AA6-098D-3486-F435-B5113D2D1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Images produced by grad cam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31DC7-A746-D54A-A2C7-8F76C359C1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T-</a:t>
            </a:r>
            <a:r>
              <a:rPr lang="en-IN" dirty="0" err="1"/>
              <a:t>sne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754A671-8EAD-35AB-DCF0-82214DF90CF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72166" y="2582863"/>
            <a:ext cx="4788306" cy="3378200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6F1C4AC-B485-30F2-D0FD-DBA6DDC87AC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354132" y="2582863"/>
            <a:ext cx="4665336" cy="337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727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3F8EE-020C-99C2-47A7-D5F44F689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C9930-5A48-8466-1ECF-AE13C9501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The main issue is with images of class 2 resemble a lot with the images of class 3.</a:t>
            </a:r>
          </a:p>
        </p:txBody>
      </p:sp>
    </p:spTree>
    <p:extLst>
      <p:ext uri="{BB962C8B-B14F-4D97-AF65-F5344CB8AC3E}">
        <p14:creationId xmlns:p14="http://schemas.microsoft.com/office/powerpoint/2010/main" val="322650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22BFAE-CB69-6215-7898-041DB305DB94}"/>
              </a:ext>
            </a:extLst>
          </p:cNvPr>
          <p:cNvSpPr txBox="1"/>
          <p:nvPr/>
        </p:nvSpPr>
        <p:spPr>
          <a:xfrm>
            <a:off x="3136392" y="630937"/>
            <a:ext cx="56692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dirty="0"/>
              <a:t>REFERENCES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4C75FB-1EED-E8BC-2C32-85448F811DA8}"/>
              </a:ext>
            </a:extLst>
          </p:cNvPr>
          <p:cNvSpPr txBox="1"/>
          <p:nvPr/>
        </p:nvSpPr>
        <p:spPr>
          <a:xfrm>
            <a:off x="484632" y="2197000"/>
            <a:ext cx="114665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dirty="0"/>
              <a:t>M.-H. Guo, C.-Z. Lu, Q. Hou, Z. Liu, M.-M. Cheng, and S.-M. Hu, “</a:t>
            </a:r>
            <a:r>
              <a:rPr lang="en-IN" dirty="0" err="1"/>
              <a:t>SegNeXt</a:t>
            </a:r>
            <a:r>
              <a:rPr lang="en-IN" dirty="0"/>
              <a:t>: Rethinking convolutional attention design for semantic segmentation,” in </a:t>
            </a:r>
            <a:r>
              <a:rPr lang="en-IN" i="1" dirty="0"/>
              <a:t>Proc. </a:t>
            </a:r>
            <a:r>
              <a:rPr lang="en-IN" i="1" dirty="0" err="1"/>
              <a:t>NeurIPS</a:t>
            </a:r>
            <a:r>
              <a:rPr lang="en-IN" dirty="0"/>
              <a:t>, 2022.</a:t>
            </a:r>
          </a:p>
          <a:p>
            <a:pPr marL="342900" indent="-342900">
              <a:buAutoNum type="arabicPeriod"/>
            </a:pPr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J. Zeng, D. Jha, E. Aktas, E. Keles, A. </a:t>
            </a:r>
            <a:r>
              <a:rPr lang="en-IN" dirty="0" err="1"/>
              <a:t>Medetalibeyoglu</a:t>
            </a:r>
            <a:r>
              <a:rPr lang="en-IN" dirty="0"/>
              <a:t>, M. Antalek, A. A. Borhani, D. P. Ladner, G. Durak, and U. Bagci, “Liver Cirrhosis Stage Estimation from MRI with Deep Learning,” </a:t>
            </a:r>
            <a:r>
              <a:rPr lang="en-IN" i="1" dirty="0" err="1"/>
              <a:t>arXiv</a:t>
            </a:r>
            <a:r>
              <a:rPr lang="en-IN" i="1" dirty="0"/>
              <a:t> preprint</a:t>
            </a:r>
            <a:r>
              <a:rPr lang="en-IN" dirty="0"/>
              <a:t>, arXiv:2502.18225, 2025. </a:t>
            </a:r>
          </a:p>
          <a:p>
            <a:pPr marL="342900" indent="-342900">
              <a:buAutoNum type="arabicPeriod"/>
            </a:pPr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S. Woo, J. Park, J.-Y. Lee, and I. S. Kweon, “CBAM: Convolutional Block Attention Module,” in </a:t>
            </a:r>
            <a:r>
              <a:rPr lang="en-IN" i="1" dirty="0"/>
              <a:t>Proc. European Conf. on Computer Vision (ECCV)</a:t>
            </a:r>
            <a:r>
              <a:rPr lang="en-IN" dirty="0"/>
              <a:t>, 2018, pp. 3–19.</a:t>
            </a:r>
          </a:p>
          <a:p>
            <a:pPr marL="342900" indent="-342900">
              <a:buAutoNum type="arabicPeriod"/>
            </a:pPr>
            <a:endParaRPr lang="en-IN" dirty="0"/>
          </a:p>
          <a:p>
            <a:pPr marL="342900" indent="-342900">
              <a:buAutoNum type="arabicPeriod"/>
            </a:pPr>
            <a:r>
              <a:rPr lang="en-US" dirty="0"/>
              <a:t>J. Park, S. Woo, J.-Y. Lee, and I. S. Kweon, “BAM: Bottleneck Attention Module,” in </a:t>
            </a:r>
            <a:r>
              <a:rPr lang="en-US" i="1" dirty="0"/>
              <a:t>Proc. BMVC</a:t>
            </a:r>
            <a:r>
              <a:rPr lang="en-US" dirty="0"/>
              <a:t>, 2018.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237756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189</TotalTime>
  <Words>533</Words>
  <Application>Microsoft Office PowerPoint</Application>
  <PresentationFormat>Widescreen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Retrospect</vt:lpstr>
      <vt:lpstr>CLASSIFICATION OF: CIRRHOSIS LIVER DISEASE</vt:lpstr>
      <vt:lpstr>OBJECTIVE</vt:lpstr>
      <vt:lpstr>DATASET</vt:lpstr>
      <vt:lpstr>DATASET:PATIENT WISE</vt:lpstr>
      <vt:lpstr>What Have We Done Till Now?</vt:lpstr>
      <vt:lpstr>What New We Have Done?</vt:lpstr>
      <vt:lpstr>RESULTS </vt:lpstr>
      <vt:lpstr>RESULTS WITH MOBILENETV2</vt:lpstr>
      <vt:lpstr>PROBLEM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hemakshi jain</dc:creator>
  <cp:lastModifiedBy>hemakshi jain</cp:lastModifiedBy>
  <cp:revision>6</cp:revision>
  <dcterms:created xsi:type="dcterms:W3CDTF">2025-07-27T11:04:59Z</dcterms:created>
  <dcterms:modified xsi:type="dcterms:W3CDTF">2025-11-17T07:28:25Z</dcterms:modified>
</cp:coreProperties>
</file>